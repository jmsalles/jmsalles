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56D66A0-E8EE-49B7-9652-0AE76F989F2B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 estimado: 0:00 a 1:00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Fala sugerida: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Olá, meu nome é Jeferson Mattos de Salles. Nesta aula de aproximadamente 20 minutos vamos trabalhar um tema introdutório do Linux Essentials: primeiros passos na linha de comando. A ideia é que uma pessoa que nunca usou Linux entenda o que é o terminal, como descobrir onde está, como listar arquivos, navegar entre diretórios e criar seu primeiro ambiente de trabalho.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Postura: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Olhe para a câmera por 10 segundos no começo. Fale devagar. Não comece com muitos termos técnicos. Mostre segurança, mas não tente parecer avançado demais.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E76708-5315-438F-9076-0C938C8670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 estimado: 1:00 a 2:00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Fala sugerida: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Essa aula é propositalmente simples. Em vez de mostrar 40 comandos, vamos usar poucos comandos e entender quando eles são úteis. O objetivo é que o aluno termine com autonomia para se localizar, navegar e criar arquivos dentro do seu diretório home.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Pergunta ao aluno: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Antes de começarmos, quem aqui já abriu um terminal Linux alguma vez? Não tem problema nenhum se a resposta for não. A aula foi pensada para começar do zero.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Dica de teatro: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uma pausa curta depois da pergunta. Mesmo sem alunos reais, diga: "Ótimo, então vou assumir que temos pessoas começando agora e vou explicar sem pressa."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DC2D28-C716-4000-BD69-4C4791DA3C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 estimado: 2:00 a 3:15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Fala sugerida: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tornar isso real, imagine seu primeiro acesso a um servidor. A tela abre e voce ve apenas uma linha piscando. A primeira sensacao pode ser: e agora? O segredo e transformar essa tela em perguntas simples: onde estou, o que existe aqui e como eu me movimento.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Gancho didatico: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que a aula vai responder essas perguntas com comandos curtos, seguros e repetiveis.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Possivel pergunta do aluno: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Aluno: "Preciso saber programar para usar terminal?"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Resposta: Nao. Usar terminal e como aprender a usar ferramentas de trabalho. Programacao pode vir depois, mas para navegar, listar e criar arquivos nao precisamos programar.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F7A818-1B4E-4808-B6DB-0D18C0A710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 estimado: 3:15 a 4:45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Fala sugerida: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Antes dos comandos, precisamos alinhar tres palavras. Terminal e a janela. Shell e o interpretador, normalmente Bash. Prompt e essa linha que fica aguardando seu comando.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Explique o prompt: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Quando eu vejo aluno@linux dois pontos til cifrao, isso me da pistas. aluno e o usuario, linux e a maquina, til representa a home do usuario, e o cifrao mostra que estou como usuario comum.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Pergunta de validacao: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eu mostro na tela o simbolo $, estou em geral como root ou como usuario comum?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Resposta esperada: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Usuario comum.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Cuidados: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Nao incentive usar root. Diga que vamos praticar como usuario comum em um diretorio seguro.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DB9BAD-FEB1-48AB-97B0-966370D987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 estimado: 4:45 a 6:00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Fala sugerida: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primeiro comando e pwd. Ele responde onde estou agora. Quando digito pwd e recebo /home/aluno, isso significa que meu diretorio atual e a home do usuario aluno.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Analogia: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Pense no sistema como um predio. Diretorios sao salas. O pwd mostra a placa da sala em que voce esta.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Pergunta planejada: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o resultado foi /home/aluno, em qual pasta estou?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Resposta esperada: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Estou na pasta home do usuario aluno.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Possivel pergunta do aluno: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Aluno: "Home e a mesma coisa que Area de Trabalho?"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Resposta: Nao exatamente. A home e a pasta principal do usuario. Dentro dela podem existir Desktop, Documentos, Downloads e outros diretorios.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7EAABC-5E25-40D9-93E2-5A5EB5CEDE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 estimado: 6:00 a 7:45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Fala sugerida: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Depois de saber onde estou, a proxima pergunta e: o que existe aqui? O comando ls lista o conteudo do diretorio atual. Quando uso ls -l, peco uma listagem longa, com detalhes.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Nao aprofunde permissoes agora: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Aparecem permissoes no inicio da linha, mas nesta aula nao vamos entrar em chmod. O ponto aqui e identificar arquivo e diretorio. Se comeca com d, e diretorio. Se comeca com hifen, e arquivo comum.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Pergunta planejada: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 listagem, qual linha representa um diretorio?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Resposta esperada: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linha que comeca com d, como Documentos.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Possivel pergunta do aluno: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Aluno: "Por que alguns arquivos nao aparecem?"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Resposta: Arquivos que comecam com ponto sao ocultos por padrao. Para ve-los usamos ls -a, mas podemos deixar esse detalhe como complemento.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554D4F-48FE-493D-BE1B-8B57D91502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 estimado: 7:45 a 9:45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Fala sugerida: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comando cd significa change directory, mudar de diretorio. Se eu digito cd Documentos, entro no diretorio Documentos. Depois uso pwd para confirmar onde estou.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Explique .. e ~: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Dois pontos significam o diretorio acima, o pai do diretorio atual. O til representa a home do usuario.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Pergunta planejada: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eu estou em /home/aluno/Documentos e executo cd .., para onde vou?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Resposta esperada: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Volto para /home/aluno.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Possivel pergunta do aluno: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Aluno: "Linux diferencia maiuscula de minuscula?"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Resposta: Sim. Documentos, documentos e DOCUMENTOS podem ser nomes diferentes. Isso e importante quando digitamos comandos.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5FC901-3188-4141-9B8B-CC4D262985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 estimado: 9:45 a 11:00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Fala sugerida: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Agora vamos praticar com arquivos. Mas antes, uma boa pratica: criar um diretorio de laboratorio. Assim, se errarmos, o impacto fica limitado a esse ambiente de treino.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Destaque de profissionalismo: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Como instrutor, nao basta ensinar comando. Precisamos ensinar seguranca operacional. Entao vamos praticar dentro da home e dentro de uma pasta criada para a aula.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Pergunta planejada: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 que nao vou executar comandos de remocao em qualquer lugar do sistema?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Resposta esperada: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Porque posso apagar algo importante. O laboratorio limita o risco.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Possivel pergunta do aluno: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Aluno: "Posso usar sudo para resolver quando nao tenho permissao?"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Resposta: Sudo nao e uma solucao generica. Ele eleva privilegios e deve ser usado com criterio, quando o procedimento realmente exige.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DB2347-5DAF-4E7B-B09B-8CD6960562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 estimado: 11:00 a 13:20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Fala sugerida: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Agora vamos criar conteudo. mkdir cria diretorios. touch cria um arquivo vazio. echo exibe um texto; quando uso o sinal maior que, direciono esse texto para dentro do arquivo. cat mostra o conteudo do arquivo.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Ponto didatico: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Nao transforme isso em uma aula profunda de redirecionamento. Diga que existe mais sobre &gt; e &gt;&gt;, mas que hoje o foco e apenas criar um arquivo com conteudo.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Pergunta planejada: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Depois de touch anotacoes.txt, o arquivo tem conteudo ou esta vazio?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Resposta esperada: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Esta vazio. Depois o echo escreve conteudo nele.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Possivel pergunta do aluno: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Aluno: "Se eu usar &gt; de novo, ele soma ou substitui?"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Resposta: O &gt; substitui o conteudo. Para acrescentar, usamos &gt;&gt;. Mas nesta aula vamos ficar com o uso basico.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9F4F8E-76CE-4A8C-86F4-E5E9C379E6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 estimado: 13:20 a 15:20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Fala sugerida: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Agora vamos organizar arquivos. cp copia. mv move ou renomeia. rm remove. Repare que rm e um comando destrutivo, entao sempre confira onde voce esta com pwd e o que existe ali com ls antes de remover.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Demonstre seguranca: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Fale em voz alta: estou dentro do laboratorio, confirmei com pwd, listei com ls, agora posso remover o arquivo de teste.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Pergunta planejada: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Qual comando eu devo executar antes de apagar algo para confirmar em qual diretorio estou?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Resposta esperada: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pwd. E tambem ls para ver o conteudo.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Possivel pergunta do aluno: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Aluno: "rm manda para lixeira?"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Resposta: Na linha de comando, geralmente nao. Ele remove o arquivo. Por isso precisamos ter cuidado.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E7A19F-842A-4430-B608-C646A3B776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 estimado: 15:20 a 17:00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Fala sugerida: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Antes de continuar, vamos fazer uma pausa rapida para confirmar entendimento. Isso e importante porque os proximos comandos dependem desses conceitos.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Perguntas: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Qual comando mostra o diretorio atual? Resposta: pwd.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Qual comando lista arquivos? Resposta: ls.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O que significa cd ..? Resposta: voltar um nivel.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Qual e o risco do rm? Resposta: remover arquivo sem lixeira no terminal.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Dica para gravacao: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Mesmo que voce esteja sozinho, simule a pausa: "Pense por alguns segundos antes de responder". Aguarde 2 segundos. Depois responda. Isso mostra controle de aula.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6CBFA2-4A1A-45F5-8F0B-AB63A177FB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 estimado: 17:00 a 18:45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Fala sugerida: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Agora vamos juntar tudo em um mini desafio. O aluno deve criar um diretorio de treino, entrar nele, criar um arquivo chamado resumo.txt, escrever uma frase dentro dele, criar uma pasta evidencias, copiar o arquivo para dentro dessa pasta e listar recursivamente.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Ponto didatico: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Execute devagar. Apos cada comando, explique o resultado. Nao digite muito rapido.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Possivel pergunta do aluno: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Aluno: "O que e ls -R?"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Resposta: E uma listagem recursiva, ou seja, mostra tambem conteudo de subdiretorios. Nao precisa decorar agora, mas ajuda a visualizar a arvore que acabamos de criar.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Fechamento do exercicio: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Diga: se voce conseguiu acompanhar ate aqui, voce ja sabe se localizar, listar, navegar, criar e organizar arquivos no Linux.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A479D9-37FD-474A-83B4-C08B31C09F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 estimado: 18:45 a 20:00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Fala sugerida: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Vamos fechar recapitulando. pwd mostra onde estou. ls lista o conteudo. cd muda de diretorio. mkdir cria diretorio. touch cria arquivo vazio. cp, mv e rm ajudam a organizar arquivos, sempre com cuidado.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Fechamento profissional: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Esse e um primeiro passo. Na proxima aula, poderiamos aprender como buscar ajuda no proprio Linux com man e --help, e depois evoluir para permissoes, usuarios e scripts simples.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Fala final: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Obrigado por participar. Minha recomendacao e repetir o laboratorio em uma maquina de teste e se acostumar com a sequencia: pwd, ls, cd. Essa pequena rotina reduz muito o medo do terminal.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Olhe para a camera no encerramento.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9A71A0-67D7-41D1-BA0B-1B64C40B7C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Este slide e para documentar a base da aula. Eu recomendo nao usar durante a gravacao da aula principal, ou deixar apenas como ultimo slide apos o encerramento. Ele ajuda voce a demonstrar que o conteudo foi desenhado com base nos objetivos oficiais.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949037-6B5E-479A-8A78-55B588C611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6428160"/>
            <a:ext cx="11201400" cy="360"/>
          </a:xfrm>
          <a:prstGeom prst="line">
            <a:avLst/>
          </a:prstGeom>
          <a:ln w="12700">
            <a:solidFill>
              <a:srgbClr val="1EA7A1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sldNum" idx="1"/>
          </p:nvPr>
        </p:nvSpPr>
        <p:spPr>
          <a:xfrm>
            <a:off x="1120140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51DE19F-40F9-4804-9CE3-3564338318F0}" type="slidenum">
              <a: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rPr>
              <a:t>&lt;número&gt;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640080" y="1051560"/>
            <a:ext cx="5943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Linux do zero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658440" y="1783080"/>
            <a:ext cx="5668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4B8A6"/>
                </a:solidFill>
                <a:effectLst/>
                <a:uFillTx/>
                <a:latin typeface="Aptos"/>
              </a:rPr>
              <a:t>Primeiros passos na linha de comando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685800" y="2423160"/>
            <a:ext cx="6217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Aula inicial  - LPI Linux Essentials 010-160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3"/>
          <p:cNvSpPr/>
          <p:nvPr/>
        </p:nvSpPr>
        <p:spPr>
          <a:xfrm>
            <a:off x="6903720" y="1051560"/>
            <a:ext cx="4434480" cy="3611520"/>
          </a:xfrm>
          <a:prstGeom prst="roundRect">
            <a:avLst>
              <a:gd name="adj" fmla="val 3038"/>
            </a:avLst>
          </a:prstGeom>
          <a:solidFill>
            <a:srgbClr val="020617"/>
          </a:solidFill>
          <a:ln w="1397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4"/>
          <p:cNvSpPr/>
          <p:nvPr/>
        </p:nvSpPr>
        <p:spPr>
          <a:xfrm>
            <a:off x="6903720" y="1051560"/>
            <a:ext cx="4434480" cy="319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5"/>
          <p:cNvSpPr/>
          <p:nvPr/>
        </p:nvSpPr>
        <p:spPr>
          <a:xfrm>
            <a:off x="7040880" y="1161360"/>
            <a:ext cx="91080" cy="91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6"/>
          <p:cNvSpPr/>
          <p:nvPr/>
        </p:nvSpPr>
        <p:spPr>
          <a:xfrm>
            <a:off x="7196400" y="1161360"/>
            <a:ext cx="91080" cy="91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7"/>
          <p:cNvSpPr/>
          <p:nvPr/>
        </p:nvSpPr>
        <p:spPr>
          <a:xfrm>
            <a:off x="7351920" y="1161360"/>
            <a:ext cx="91080" cy="91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8"/>
          <p:cNvSpPr/>
          <p:nvPr/>
        </p:nvSpPr>
        <p:spPr>
          <a:xfrm>
            <a:off x="7068240" y="1490400"/>
            <a:ext cx="4105440" cy="30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whoami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aluno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pwd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/home/aluno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echo "Bem-vindo ao Linux"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Bem-vindo ao Linux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9"/>
          <p:cNvSpPr/>
          <p:nvPr/>
        </p:nvSpPr>
        <p:spPr>
          <a:xfrm>
            <a:off x="713160" y="4983480"/>
            <a:ext cx="10332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Objetivo: fazer o aluno sair do medo do terminal e conseguir navegar, listar e criar arquivos com segurança.</a:t>
            </a:r>
            <a:endParaRPr lang="pt-B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594360" y="647388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Aula Inicial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sldNum" idx="5"/>
          </p:nvPr>
        </p:nvSpPr>
        <p:spPr>
          <a:xfrm>
            <a:off x="1120140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7979FE1-D9BF-4D69-8B8A-456DD4D60D68}" type="slidenum">
              <a: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rPr>
              <a:t>1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594360" y="43884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Mapa da aula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621720" y="868680"/>
            <a:ext cx="10606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Vamos aprender pouco conteúdo, mas com clareza e prática.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868680" y="1417320"/>
            <a:ext cx="402120" cy="4021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868680" y="149040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020"/>
                </a:solidFill>
                <a:effectLst/>
                <a:uFillTx/>
                <a:latin typeface="Aptos"/>
              </a:rPr>
              <a:t>1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1508760" y="1444680"/>
            <a:ext cx="58975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Entender o que é terminal, shell e prompt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5"/>
          <p:cNvSpPr/>
          <p:nvPr/>
        </p:nvSpPr>
        <p:spPr>
          <a:xfrm>
            <a:off x="868680" y="2221920"/>
            <a:ext cx="402120" cy="4021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868680" y="229500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020"/>
                </a:solidFill>
                <a:effectLst/>
                <a:uFillTx/>
                <a:latin typeface="Aptos"/>
              </a:rPr>
              <a:t>2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7"/>
          <p:cNvSpPr/>
          <p:nvPr/>
        </p:nvSpPr>
        <p:spPr>
          <a:xfrm>
            <a:off x="1508760" y="2249280"/>
            <a:ext cx="58975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Descobrir onde estou no sistema com pwd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8"/>
          <p:cNvSpPr/>
          <p:nvPr/>
        </p:nvSpPr>
        <p:spPr>
          <a:xfrm>
            <a:off x="868680" y="3026520"/>
            <a:ext cx="402120" cy="4021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868680" y="309996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020"/>
                </a:solidFill>
                <a:effectLst/>
                <a:uFillTx/>
                <a:latin typeface="Aptos"/>
              </a:rPr>
              <a:t>3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1508760" y="3054240"/>
            <a:ext cx="58975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Listar arquivos e interpretar uma listagem simples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1"/>
          <p:cNvSpPr/>
          <p:nvPr/>
        </p:nvSpPr>
        <p:spPr>
          <a:xfrm>
            <a:off x="868680" y="3831480"/>
            <a:ext cx="402120" cy="4021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868680" y="390456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020"/>
                </a:solidFill>
                <a:effectLst/>
                <a:uFillTx/>
                <a:latin typeface="Aptos"/>
              </a:rPr>
              <a:t>4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1508760" y="3858840"/>
            <a:ext cx="58975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Navegar entre diretórios com cd, .. e ~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4"/>
          <p:cNvSpPr/>
          <p:nvPr/>
        </p:nvSpPr>
        <p:spPr>
          <a:xfrm>
            <a:off x="868680" y="4636080"/>
            <a:ext cx="402120" cy="4021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868680" y="470916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020"/>
                </a:solidFill>
                <a:effectLst/>
                <a:uFillTx/>
                <a:latin typeface="Aptos"/>
              </a:rPr>
              <a:t>5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1508760" y="4663440"/>
            <a:ext cx="58975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Criar, copiar, mover e remover arquivos em um laboratório seguro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7"/>
          <p:cNvSpPr/>
          <p:nvPr/>
        </p:nvSpPr>
        <p:spPr>
          <a:xfrm>
            <a:off x="7909560" y="1874520"/>
            <a:ext cx="3062880" cy="1325520"/>
          </a:xfrm>
          <a:prstGeom prst="roundRect">
            <a:avLst>
              <a:gd name="adj" fmla="val 8276"/>
            </a:avLst>
          </a:prstGeom>
          <a:solidFill>
            <a:srgbClr val="172033"/>
          </a:solidFill>
          <a:ln w="1397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8"/>
          <p:cNvSpPr/>
          <p:nvPr/>
        </p:nvSpPr>
        <p:spPr>
          <a:xfrm>
            <a:off x="8074080" y="2011680"/>
            <a:ext cx="27338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Combinado da aula: ninguém precisa decorar tudo. O foco é entender a lógica e praticar.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9"/>
          <p:cNvSpPr/>
          <p:nvPr/>
        </p:nvSpPr>
        <p:spPr>
          <a:xfrm>
            <a:off x="7909560" y="3703320"/>
            <a:ext cx="3062880" cy="10969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397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8074080" y="3840480"/>
            <a:ext cx="2733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Ponto forte para a LPI: verificar entendimento antes de avançar.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594360" y="647388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Linux Essentials 010-160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sldNum" idx="6"/>
          </p:nvPr>
        </p:nvSpPr>
        <p:spPr>
          <a:xfrm>
            <a:off x="1120140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A3A3866-5326-4267-8B78-507C763C8D0E}" type="slidenum">
              <a: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rPr>
              <a:t>2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594360" y="43884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Cenario: primeiro acesso ao Linux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621720" y="868680"/>
            <a:ext cx="10606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Imagine que voce entrou em um servidor ou desktop Linux pela primeira vez.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749880" y="1417320"/>
            <a:ext cx="4388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Voce precisa responder tres perguntas:</a:t>
            </a:r>
            <a:endParaRPr lang="pt-B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3"/>
          <p:cNvSpPr/>
          <p:nvPr/>
        </p:nvSpPr>
        <p:spPr>
          <a:xfrm>
            <a:off x="868680" y="1965960"/>
            <a:ext cx="3200040" cy="639720"/>
          </a:xfrm>
          <a:prstGeom prst="roundRect">
            <a:avLst>
              <a:gd name="adj" fmla="val 17143"/>
            </a:avLst>
          </a:prstGeom>
          <a:solidFill>
            <a:srgbClr val="172033"/>
          </a:solidFill>
          <a:ln w="1397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1033200" y="2103120"/>
            <a:ext cx="287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1. Onde eu estou?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5"/>
          <p:cNvSpPr/>
          <p:nvPr/>
        </p:nvSpPr>
        <p:spPr>
          <a:xfrm>
            <a:off x="868680" y="2834640"/>
            <a:ext cx="3200040" cy="639720"/>
          </a:xfrm>
          <a:prstGeom prst="roundRect">
            <a:avLst>
              <a:gd name="adj" fmla="val 17143"/>
            </a:avLst>
          </a:prstGeom>
          <a:solidFill>
            <a:srgbClr val="172033"/>
          </a:solidFill>
          <a:ln w="1397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1033200" y="2971800"/>
            <a:ext cx="287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2. O que existe aqui?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7"/>
          <p:cNvSpPr/>
          <p:nvPr/>
        </p:nvSpPr>
        <p:spPr>
          <a:xfrm>
            <a:off x="868680" y="3703320"/>
            <a:ext cx="3200040" cy="639720"/>
          </a:xfrm>
          <a:prstGeom prst="roundRect">
            <a:avLst>
              <a:gd name="adj" fmla="val 17143"/>
            </a:avLst>
          </a:prstGeom>
          <a:solidFill>
            <a:srgbClr val="172033"/>
          </a:solidFill>
          <a:ln w="1397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1033200" y="3840480"/>
            <a:ext cx="287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3. Como eu me movimento?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9"/>
          <p:cNvSpPr/>
          <p:nvPr/>
        </p:nvSpPr>
        <p:spPr>
          <a:xfrm>
            <a:off x="5669280" y="1508760"/>
            <a:ext cx="5028840" cy="1965600"/>
          </a:xfrm>
          <a:prstGeom prst="roundRect">
            <a:avLst>
              <a:gd name="adj" fmla="val 5581"/>
            </a:avLst>
          </a:prstGeom>
          <a:solidFill>
            <a:srgbClr val="020617"/>
          </a:solidFill>
          <a:ln w="1397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0"/>
          <p:cNvSpPr/>
          <p:nvPr/>
        </p:nvSpPr>
        <p:spPr>
          <a:xfrm>
            <a:off x="5669280" y="1508760"/>
            <a:ext cx="5028840" cy="319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5806440" y="1618560"/>
            <a:ext cx="91080" cy="91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2"/>
          <p:cNvSpPr/>
          <p:nvPr/>
        </p:nvSpPr>
        <p:spPr>
          <a:xfrm>
            <a:off x="5961960" y="1618560"/>
            <a:ext cx="91080" cy="91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3"/>
          <p:cNvSpPr/>
          <p:nvPr/>
        </p:nvSpPr>
        <p:spPr>
          <a:xfrm>
            <a:off x="6117480" y="1618560"/>
            <a:ext cx="91080" cy="91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4"/>
          <p:cNvSpPr/>
          <p:nvPr/>
        </p:nvSpPr>
        <p:spPr>
          <a:xfrm>
            <a:off x="5833800" y="1947600"/>
            <a:ext cx="4699800" cy="143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ssh aluno@servidor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aluno@servidor:~$ _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5760720" y="3950280"/>
            <a:ext cx="48459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 linha de comando parece fria no começo, mas ela conversa com voce por texto.</a:t>
            </a:r>
            <a:endParaRPr lang="pt-B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594360" y="647388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Linux Essentials 010-160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sldNum" idx="7"/>
          </p:nvPr>
        </p:nvSpPr>
        <p:spPr>
          <a:xfrm>
            <a:off x="1120140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3E837D3E-3C0C-44E1-9524-02300D440B40}" type="slidenum">
              <a: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rPr>
              <a:t>3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594360" y="43884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Terminal, shell e prompt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621720" y="868680"/>
            <a:ext cx="10606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Tres palavras que aparecem logo no primeiro contato.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777240" y="141732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4B8A6"/>
                </a:solidFill>
                <a:effectLst/>
                <a:uFillTx/>
                <a:latin typeface="Aptos"/>
              </a:rPr>
              <a:t>Terminal</a:t>
            </a:r>
            <a:endParaRPr lang="pt-BR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777240" y="1810440"/>
            <a:ext cx="28342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 janela onde voce digita comandos.</a:t>
            </a:r>
            <a:endParaRPr lang="pt-B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4343400" y="141732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Shell</a:t>
            </a:r>
            <a:endParaRPr lang="pt-BR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4343400" y="1810440"/>
            <a:ext cx="29257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O programa que interpreta o que voce digitou. Exemplo: Bash.</a:t>
            </a:r>
            <a:endParaRPr lang="pt-B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7909560" y="141732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BBF24"/>
                </a:solidFill>
                <a:effectLst/>
                <a:uFillTx/>
                <a:latin typeface="Aptos"/>
              </a:rPr>
              <a:t>Prompt</a:t>
            </a:r>
            <a:endParaRPr lang="pt-BR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7909560" y="1810440"/>
            <a:ext cx="2971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O convite para digitar o proximo comando.</a:t>
            </a:r>
            <a:endParaRPr lang="pt-B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1828800" y="3127320"/>
            <a:ext cx="8503560" cy="2029680"/>
          </a:xfrm>
          <a:prstGeom prst="roundRect">
            <a:avLst>
              <a:gd name="adj" fmla="val 5405"/>
            </a:avLst>
          </a:prstGeom>
          <a:solidFill>
            <a:srgbClr val="020617"/>
          </a:solidFill>
          <a:ln w="1397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9"/>
          <p:cNvSpPr/>
          <p:nvPr/>
        </p:nvSpPr>
        <p:spPr>
          <a:xfrm>
            <a:off x="1828800" y="3127320"/>
            <a:ext cx="8503560" cy="319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0"/>
          <p:cNvSpPr/>
          <p:nvPr/>
        </p:nvSpPr>
        <p:spPr>
          <a:xfrm>
            <a:off x="1965960" y="3237120"/>
            <a:ext cx="91080" cy="91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1"/>
          <p:cNvSpPr/>
          <p:nvPr/>
        </p:nvSpPr>
        <p:spPr>
          <a:xfrm>
            <a:off x="2121480" y="3237120"/>
            <a:ext cx="91080" cy="91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2"/>
          <p:cNvSpPr/>
          <p:nvPr/>
        </p:nvSpPr>
        <p:spPr>
          <a:xfrm>
            <a:off x="2277000" y="3237120"/>
            <a:ext cx="91080" cy="91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1993320" y="3566160"/>
            <a:ext cx="8174520" cy="14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aluno@linux:~$ echo "Ola"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Ola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usuario  maquina  local  comando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4"/>
          <p:cNvSpPr/>
          <p:nvPr/>
        </p:nvSpPr>
        <p:spPr>
          <a:xfrm>
            <a:off x="1280160" y="5440680"/>
            <a:ext cx="9600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Dica: o simbolo $ geralmente indica usuario comum. O simbolo # costuma indicar root.</a:t>
            </a:r>
            <a:endParaRPr lang="pt-BR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5"/>
          <p:cNvSpPr/>
          <p:nvPr/>
        </p:nvSpPr>
        <p:spPr>
          <a:xfrm>
            <a:off x="594360" y="647388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Linux Essentials 010-160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sldNum" idx="8"/>
          </p:nvPr>
        </p:nvSpPr>
        <p:spPr>
          <a:xfrm>
            <a:off x="1120140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85BD3B6-E910-4985-88F0-74DAF1534751}" type="slidenum">
              <a: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rPr>
              <a:t>4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594360" y="43884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Primeiro comando: pwd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621720" y="868680"/>
            <a:ext cx="10606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Pergunta que o comando responde: onde eu estou agora?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868680" y="1481400"/>
            <a:ext cx="4937400" cy="1416960"/>
          </a:xfrm>
          <a:prstGeom prst="roundRect">
            <a:avLst>
              <a:gd name="adj" fmla="val 7742"/>
            </a:avLst>
          </a:prstGeom>
          <a:solidFill>
            <a:srgbClr val="020617"/>
          </a:solidFill>
          <a:ln w="1397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868680" y="1481400"/>
            <a:ext cx="4937400" cy="319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4"/>
          <p:cNvSpPr/>
          <p:nvPr/>
        </p:nvSpPr>
        <p:spPr>
          <a:xfrm>
            <a:off x="1005840" y="1591200"/>
            <a:ext cx="91080" cy="91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1161360" y="1591200"/>
            <a:ext cx="91080" cy="91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6"/>
          <p:cNvSpPr/>
          <p:nvPr/>
        </p:nvSpPr>
        <p:spPr>
          <a:xfrm>
            <a:off x="1316880" y="1591200"/>
            <a:ext cx="91080" cy="91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1033200" y="1920240"/>
            <a:ext cx="460836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pwd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/home/aluno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6400800" y="1600200"/>
            <a:ext cx="4388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4B8A6"/>
                </a:solidFill>
                <a:effectLst/>
                <a:uFillTx/>
                <a:latin typeface="Aptos"/>
              </a:rPr>
              <a:t>pwd = print working directory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6419160" y="205740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Mostra o caminho completo do diretorio atual.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868680" y="365760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BBF24"/>
                </a:solidFill>
                <a:effectLst/>
                <a:uFillTx/>
                <a:latin typeface="Aptos"/>
              </a:rPr>
              <a:t>Analogia simples: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868680" y="4023360"/>
            <a:ext cx="9783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O terminal e como um predio cheio de salas. O pwd mostra em qual sala voce esta neste momento.</a:t>
            </a:r>
            <a:endParaRPr lang="pt-B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2"/>
          <p:cNvSpPr/>
          <p:nvPr/>
        </p:nvSpPr>
        <p:spPr>
          <a:xfrm>
            <a:off x="2103120" y="5047560"/>
            <a:ext cx="7954920" cy="658080"/>
          </a:xfrm>
          <a:prstGeom prst="roundRect">
            <a:avLst>
              <a:gd name="adj" fmla="val 16667"/>
            </a:avLst>
          </a:prstGeom>
          <a:solidFill>
            <a:srgbClr val="172033"/>
          </a:solidFill>
          <a:ln w="1397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2267640" y="5184720"/>
            <a:ext cx="7625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Pergunta ao aluno: se o resultado foi /home/aluno, em qual pasta estou?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4"/>
          <p:cNvSpPr/>
          <p:nvPr/>
        </p:nvSpPr>
        <p:spPr>
          <a:xfrm>
            <a:off x="594360" y="647388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Linux Essentials 010-160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sldNum" idx="9"/>
          </p:nvPr>
        </p:nvSpPr>
        <p:spPr>
          <a:xfrm>
            <a:off x="1120140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E15E811-AF19-4A10-B4DD-8DB4DE079A56}" type="slidenum">
              <a: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rPr>
              <a:t>5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594360" y="43884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Segundo comando: ls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621720" y="868680"/>
            <a:ext cx="10606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Pergunta que o comando responde: o que existe aqui?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"/>
          <p:cNvSpPr/>
          <p:nvPr/>
        </p:nvSpPr>
        <p:spPr>
          <a:xfrm>
            <a:off x="685800" y="1234440"/>
            <a:ext cx="6491880" cy="3108600"/>
          </a:xfrm>
          <a:prstGeom prst="roundRect">
            <a:avLst>
              <a:gd name="adj" fmla="val 3529"/>
            </a:avLst>
          </a:prstGeom>
          <a:solidFill>
            <a:srgbClr val="020617"/>
          </a:solidFill>
          <a:ln w="1397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685800" y="1234440"/>
            <a:ext cx="6491880" cy="319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4"/>
          <p:cNvSpPr/>
          <p:nvPr/>
        </p:nvSpPr>
        <p:spPr>
          <a:xfrm>
            <a:off x="822960" y="1344240"/>
            <a:ext cx="91080" cy="91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5"/>
          <p:cNvSpPr/>
          <p:nvPr/>
        </p:nvSpPr>
        <p:spPr>
          <a:xfrm>
            <a:off x="978480" y="1344240"/>
            <a:ext cx="91080" cy="91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6"/>
          <p:cNvSpPr/>
          <p:nvPr/>
        </p:nvSpPr>
        <p:spPr>
          <a:xfrm>
            <a:off x="1134000" y="1344240"/>
            <a:ext cx="91080" cy="91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7"/>
          <p:cNvSpPr/>
          <p:nvPr/>
        </p:nvSpPr>
        <p:spPr>
          <a:xfrm>
            <a:off x="850320" y="1673280"/>
            <a:ext cx="6162840" cy="257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ls</a:t>
            </a:r>
            <a:endParaRPr lang="pt-BR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Documentos  Downloads  imagens  anotacoes.txt</a:t>
            </a:r>
            <a:endParaRPr lang="pt-BR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ls -l</a:t>
            </a:r>
            <a:endParaRPr lang="pt-BR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drwxr-xr-x 2 aluno aluno 4096 out  1 07:10 Documentos</a:t>
            </a:r>
            <a:endParaRPr lang="pt-BR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-rw-r--r-- 1 aluno aluno   32 out  1 07:11 anotacoes.txt</a:t>
            </a:r>
            <a:endParaRPr lang="pt-BR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8"/>
          <p:cNvSpPr/>
          <p:nvPr/>
        </p:nvSpPr>
        <p:spPr>
          <a:xfrm>
            <a:off x="7680960" y="141732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ls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9"/>
          <p:cNvSpPr/>
          <p:nvPr/>
        </p:nvSpPr>
        <p:spPr>
          <a:xfrm>
            <a:off x="7680960" y="1874520"/>
            <a:ext cx="3474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lista arquivos e diretorios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0"/>
          <p:cNvSpPr/>
          <p:nvPr/>
        </p:nvSpPr>
        <p:spPr>
          <a:xfrm>
            <a:off x="7680960" y="2697480"/>
            <a:ext cx="155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4B8A6"/>
                </a:solidFill>
                <a:effectLst/>
                <a:uFillTx/>
                <a:latin typeface="Aptos"/>
              </a:rPr>
              <a:t>ls -l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1"/>
          <p:cNvSpPr/>
          <p:nvPr/>
        </p:nvSpPr>
        <p:spPr>
          <a:xfrm>
            <a:off x="7680960" y="3154680"/>
            <a:ext cx="3382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mostra detalhes: tipo, permissao, dono, grupo, tamanho e data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2"/>
          <p:cNvSpPr/>
          <p:nvPr/>
        </p:nvSpPr>
        <p:spPr>
          <a:xfrm>
            <a:off x="1280160" y="4983480"/>
            <a:ext cx="9600840" cy="676440"/>
          </a:xfrm>
          <a:prstGeom prst="roundRect">
            <a:avLst>
              <a:gd name="adj" fmla="val 16216"/>
            </a:avLst>
          </a:prstGeom>
          <a:solidFill>
            <a:srgbClr val="172033"/>
          </a:solidFill>
          <a:ln w="1397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3"/>
          <p:cNvSpPr/>
          <p:nvPr/>
        </p:nvSpPr>
        <p:spPr>
          <a:xfrm>
            <a:off x="1444680" y="5120640"/>
            <a:ext cx="92718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Dica visual: linha iniciando com d indica diretorio; linha iniciando com - indica arquivo comum.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4"/>
          <p:cNvSpPr/>
          <p:nvPr/>
        </p:nvSpPr>
        <p:spPr>
          <a:xfrm>
            <a:off x="594360" y="647388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Linux Essentials 010-160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sldNum" idx="10"/>
          </p:nvPr>
        </p:nvSpPr>
        <p:spPr>
          <a:xfrm>
            <a:off x="1120140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07CAF82-BECC-4881-9478-0556C6C88F43}" type="slidenum">
              <a: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rPr>
              <a:t>6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594360" y="43884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Navegando entre diretorios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621720" y="868680"/>
            <a:ext cx="10606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Agora que sabemos listar, vamos nos movimentar.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"/>
          <p:cNvSpPr/>
          <p:nvPr/>
        </p:nvSpPr>
        <p:spPr>
          <a:xfrm>
            <a:off x="731520" y="1325880"/>
            <a:ext cx="5623200" cy="3702960"/>
          </a:xfrm>
          <a:prstGeom prst="roundRect">
            <a:avLst>
              <a:gd name="adj" fmla="val 2963"/>
            </a:avLst>
          </a:prstGeom>
          <a:solidFill>
            <a:srgbClr val="020617"/>
          </a:solidFill>
          <a:ln w="1397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>
            <a:off x="731520" y="1325880"/>
            <a:ext cx="5623200" cy="319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4"/>
          <p:cNvSpPr/>
          <p:nvPr/>
        </p:nvSpPr>
        <p:spPr>
          <a:xfrm>
            <a:off x="868680" y="1435680"/>
            <a:ext cx="91080" cy="91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5"/>
          <p:cNvSpPr/>
          <p:nvPr/>
        </p:nvSpPr>
        <p:spPr>
          <a:xfrm>
            <a:off x="1024200" y="1435680"/>
            <a:ext cx="91080" cy="91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6"/>
          <p:cNvSpPr/>
          <p:nvPr/>
        </p:nvSpPr>
        <p:spPr>
          <a:xfrm>
            <a:off x="1179720" y="1435680"/>
            <a:ext cx="91080" cy="91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7"/>
          <p:cNvSpPr/>
          <p:nvPr/>
        </p:nvSpPr>
        <p:spPr>
          <a:xfrm>
            <a:off x="896040" y="1764720"/>
            <a:ext cx="5294160" cy="31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pwd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/home/aluno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cd Documentos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pwd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/home/aluno/Documentos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cd ..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pwd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/home/aluno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cd ~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7040880" y="141732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4B8A6"/>
                </a:solidFill>
                <a:effectLst/>
                <a:uFillTx/>
                <a:latin typeface="Aptos"/>
              </a:rPr>
              <a:t>cd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8229600" y="149040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change directory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0"/>
          <p:cNvSpPr/>
          <p:nvPr/>
        </p:nvSpPr>
        <p:spPr>
          <a:xfrm>
            <a:off x="6858000" y="2148840"/>
            <a:ext cx="4205880" cy="585000"/>
          </a:xfrm>
          <a:prstGeom prst="roundRect">
            <a:avLst>
              <a:gd name="adj" fmla="val 18750"/>
            </a:avLst>
          </a:prstGeom>
          <a:solidFill>
            <a:srgbClr val="172033"/>
          </a:solidFill>
          <a:ln w="1397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1"/>
          <p:cNvSpPr/>
          <p:nvPr/>
        </p:nvSpPr>
        <p:spPr>
          <a:xfrm>
            <a:off x="7022520" y="2286000"/>
            <a:ext cx="3876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cd Documentos entra no diretorio Documentos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2"/>
          <p:cNvSpPr/>
          <p:nvPr/>
        </p:nvSpPr>
        <p:spPr>
          <a:xfrm>
            <a:off x="6858000" y="2907720"/>
            <a:ext cx="4205880" cy="585000"/>
          </a:xfrm>
          <a:prstGeom prst="roundRect">
            <a:avLst>
              <a:gd name="adj" fmla="val 18750"/>
            </a:avLst>
          </a:prstGeom>
          <a:solidFill>
            <a:srgbClr val="172033"/>
          </a:solidFill>
          <a:ln w="1397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3"/>
          <p:cNvSpPr/>
          <p:nvPr/>
        </p:nvSpPr>
        <p:spPr>
          <a:xfrm>
            <a:off x="7022520" y="3044880"/>
            <a:ext cx="3876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cd .. volta um nivel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4"/>
          <p:cNvSpPr/>
          <p:nvPr/>
        </p:nvSpPr>
        <p:spPr>
          <a:xfrm>
            <a:off x="6858000" y="3666600"/>
            <a:ext cx="4205880" cy="585000"/>
          </a:xfrm>
          <a:prstGeom prst="roundRect">
            <a:avLst>
              <a:gd name="adj" fmla="val 18750"/>
            </a:avLst>
          </a:prstGeom>
          <a:solidFill>
            <a:srgbClr val="172033"/>
          </a:solidFill>
          <a:ln w="1397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5"/>
          <p:cNvSpPr/>
          <p:nvPr/>
        </p:nvSpPr>
        <p:spPr>
          <a:xfrm>
            <a:off x="7022520" y="3803760"/>
            <a:ext cx="3876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cd ~ volta para a home do usuario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6"/>
          <p:cNvSpPr/>
          <p:nvPr/>
        </p:nvSpPr>
        <p:spPr>
          <a:xfrm>
            <a:off x="594360" y="647388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Linux Essentials 010-160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sldNum" idx="11"/>
          </p:nvPr>
        </p:nvSpPr>
        <p:spPr>
          <a:xfrm>
            <a:off x="1120140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7D01AAA-ABF8-462B-AFB9-BBA8EE2AF96D}" type="slidenum">
              <a: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rPr>
              <a:t>7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594360" y="43884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Laboratorio seguro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621720" y="868680"/>
            <a:ext cx="10606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Antes de praticar, crie um espaco proprio para errar sem medo.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"/>
          <p:cNvSpPr/>
          <p:nvPr/>
        </p:nvSpPr>
        <p:spPr>
          <a:xfrm>
            <a:off x="777240" y="1325880"/>
            <a:ext cx="6217560" cy="2377080"/>
          </a:xfrm>
          <a:prstGeom prst="roundRect">
            <a:avLst>
              <a:gd name="adj" fmla="val 4615"/>
            </a:avLst>
          </a:prstGeom>
          <a:solidFill>
            <a:srgbClr val="020617"/>
          </a:solidFill>
          <a:ln w="1397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3"/>
          <p:cNvSpPr/>
          <p:nvPr/>
        </p:nvSpPr>
        <p:spPr>
          <a:xfrm>
            <a:off x="777240" y="1325880"/>
            <a:ext cx="6217560" cy="319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4"/>
          <p:cNvSpPr/>
          <p:nvPr/>
        </p:nvSpPr>
        <p:spPr>
          <a:xfrm>
            <a:off x="914400" y="1435680"/>
            <a:ext cx="91080" cy="91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5"/>
          <p:cNvSpPr/>
          <p:nvPr/>
        </p:nvSpPr>
        <p:spPr>
          <a:xfrm>
            <a:off x="1069920" y="1435680"/>
            <a:ext cx="91080" cy="91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6"/>
          <p:cNvSpPr/>
          <p:nvPr/>
        </p:nvSpPr>
        <p:spPr>
          <a:xfrm>
            <a:off x="1225440" y="1435680"/>
            <a:ext cx="91080" cy="91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7"/>
          <p:cNvSpPr/>
          <p:nvPr/>
        </p:nvSpPr>
        <p:spPr>
          <a:xfrm>
            <a:off x="941760" y="1764720"/>
            <a:ext cx="5888520" cy="18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cd ~</a:t>
            </a:r>
            <a:endParaRPr lang="pt-BR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mkdir aula-linux-essentials</a:t>
            </a:r>
            <a:endParaRPr lang="pt-BR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cd aula-linux-essentials</a:t>
            </a:r>
            <a:endParaRPr lang="pt-BR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pwd</a:t>
            </a:r>
            <a:endParaRPr lang="pt-BR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/home/aluno/aula-linux-essentials</a:t>
            </a:r>
            <a:endParaRPr lang="pt-BR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8"/>
          <p:cNvSpPr/>
          <p:nvPr/>
        </p:nvSpPr>
        <p:spPr>
          <a:xfrm>
            <a:off x="7452360" y="1371600"/>
            <a:ext cx="3565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C55E"/>
                </a:solidFill>
                <a:effectLst/>
                <a:uFillTx/>
                <a:latin typeface="Aptos"/>
              </a:rPr>
              <a:t>Por que criar um laboratorio?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7452360" y="1847160"/>
            <a:ext cx="370296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Porque os proximos comandos criam, copiam, movem e removem arquivos. Treinamos dentro da home e evitamos mexer em arquivos do sistema.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0"/>
          <p:cNvSpPr/>
          <p:nvPr/>
        </p:nvSpPr>
        <p:spPr>
          <a:xfrm>
            <a:off x="1234440" y="4663440"/>
            <a:ext cx="9646560" cy="685440"/>
          </a:xfrm>
          <a:prstGeom prst="roundRect">
            <a:avLst>
              <a:gd name="adj" fmla="val 16000"/>
            </a:avLst>
          </a:prstGeom>
          <a:solidFill>
            <a:srgbClr val="172033"/>
          </a:solidFill>
          <a:ln w="1397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1"/>
          <p:cNvSpPr/>
          <p:nvPr/>
        </p:nvSpPr>
        <p:spPr>
          <a:xfrm>
            <a:off x="1398960" y="4800600"/>
            <a:ext cx="9317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Regra de ouro: iniciante nao pratica rm fora de um diretorio de laboratorio.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2"/>
          <p:cNvSpPr/>
          <p:nvPr/>
        </p:nvSpPr>
        <p:spPr>
          <a:xfrm>
            <a:off x="594360" y="647388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Linux Essentials 010-160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sldNum" idx="12"/>
          </p:nvPr>
        </p:nvSpPr>
        <p:spPr>
          <a:xfrm>
            <a:off x="1120140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F3DE92B-0BF9-4DC9-B205-4B98D6C12C95}" type="slidenum">
              <a: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rPr>
              <a:t>8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594360" y="43884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Criando arquivos e diretorios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621720" y="868680"/>
            <a:ext cx="10606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Agora o aluno deixa de apenas olhar e passa a construir.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"/>
          <p:cNvSpPr/>
          <p:nvPr/>
        </p:nvSpPr>
        <p:spPr>
          <a:xfrm>
            <a:off x="685800" y="1298520"/>
            <a:ext cx="6720480" cy="2925720"/>
          </a:xfrm>
          <a:prstGeom prst="roundRect">
            <a:avLst>
              <a:gd name="adj" fmla="val 3750"/>
            </a:avLst>
          </a:prstGeom>
          <a:solidFill>
            <a:srgbClr val="020617"/>
          </a:solidFill>
          <a:ln w="1397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3"/>
          <p:cNvSpPr/>
          <p:nvPr/>
        </p:nvSpPr>
        <p:spPr>
          <a:xfrm>
            <a:off x="685800" y="1298520"/>
            <a:ext cx="6720480" cy="319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4"/>
          <p:cNvSpPr/>
          <p:nvPr/>
        </p:nvSpPr>
        <p:spPr>
          <a:xfrm>
            <a:off x="822960" y="1408320"/>
            <a:ext cx="91080" cy="91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5"/>
          <p:cNvSpPr/>
          <p:nvPr/>
        </p:nvSpPr>
        <p:spPr>
          <a:xfrm>
            <a:off x="978480" y="1408320"/>
            <a:ext cx="91080" cy="91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6"/>
          <p:cNvSpPr/>
          <p:nvPr/>
        </p:nvSpPr>
        <p:spPr>
          <a:xfrm>
            <a:off x="1134000" y="1408320"/>
            <a:ext cx="91080" cy="91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850320" y="1737360"/>
            <a:ext cx="6391440" cy="23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mkdir documentos logs</a:t>
            </a:r>
            <a:endParaRPr lang="pt-BR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touch anotacoes.txt</a:t>
            </a:r>
            <a:endParaRPr lang="pt-BR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echo "Primeira aula de Linux" &gt; anotacoes.txt</a:t>
            </a:r>
            <a:endParaRPr lang="pt-BR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cat anotacoes.txt</a:t>
            </a:r>
            <a:endParaRPr lang="pt-BR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Primeira aula de Linux</a:t>
            </a:r>
            <a:endParaRPr lang="pt-BR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ls -l</a:t>
            </a:r>
            <a:endParaRPr lang="pt-BR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8"/>
          <p:cNvSpPr/>
          <p:nvPr/>
        </p:nvSpPr>
        <p:spPr>
          <a:xfrm>
            <a:off x="7818120" y="1417320"/>
            <a:ext cx="3062880" cy="566640"/>
          </a:xfrm>
          <a:prstGeom prst="roundRect">
            <a:avLst>
              <a:gd name="adj" fmla="val 19355"/>
            </a:avLst>
          </a:prstGeom>
          <a:solidFill>
            <a:srgbClr val="172033"/>
          </a:solidFill>
          <a:ln w="1397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9"/>
          <p:cNvSpPr/>
          <p:nvPr/>
        </p:nvSpPr>
        <p:spPr>
          <a:xfrm>
            <a:off x="7982640" y="1554480"/>
            <a:ext cx="2733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mkdir cria diretorios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0"/>
          <p:cNvSpPr/>
          <p:nvPr/>
        </p:nvSpPr>
        <p:spPr>
          <a:xfrm>
            <a:off x="7818120" y="2148840"/>
            <a:ext cx="3062880" cy="566640"/>
          </a:xfrm>
          <a:prstGeom prst="roundRect">
            <a:avLst>
              <a:gd name="adj" fmla="val 19355"/>
            </a:avLst>
          </a:prstGeom>
          <a:solidFill>
            <a:srgbClr val="172033"/>
          </a:solidFill>
          <a:ln w="1397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1"/>
          <p:cNvSpPr/>
          <p:nvPr/>
        </p:nvSpPr>
        <p:spPr>
          <a:xfrm>
            <a:off x="7982640" y="2286000"/>
            <a:ext cx="2733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touch cria arquivo vazio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2"/>
          <p:cNvSpPr/>
          <p:nvPr/>
        </p:nvSpPr>
        <p:spPr>
          <a:xfrm>
            <a:off x="7818120" y="2880360"/>
            <a:ext cx="3062880" cy="566640"/>
          </a:xfrm>
          <a:prstGeom prst="roundRect">
            <a:avLst>
              <a:gd name="adj" fmla="val 19355"/>
            </a:avLst>
          </a:prstGeom>
          <a:solidFill>
            <a:srgbClr val="172033"/>
          </a:solidFill>
          <a:ln w="1397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7982640" y="3017520"/>
            <a:ext cx="2733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echo escreve texto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4"/>
          <p:cNvSpPr/>
          <p:nvPr/>
        </p:nvSpPr>
        <p:spPr>
          <a:xfrm>
            <a:off x="7818120" y="3611880"/>
            <a:ext cx="3062880" cy="566640"/>
          </a:xfrm>
          <a:prstGeom prst="roundRect">
            <a:avLst>
              <a:gd name="adj" fmla="val 19355"/>
            </a:avLst>
          </a:prstGeom>
          <a:solidFill>
            <a:srgbClr val="172033"/>
          </a:solidFill>
          <a:ln w="1397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7982640" y="3749040"/>
            <a:ext cx="2733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cat mostra o conteudo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6"/>
          <p:cNvSpPr/>
          <p:nvPr/>
        </p:nvSpPr>
        <p:spPr>
          <a:xfrm>
            <a:off x="1234440" y="4937760"/>
            <a:ext cx="9646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Nao tente explicar redirecionamento em profundidade. Apenas diga: o sinal &gt; envia o texto para dentro do arquivo.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7"/>
          <p:cNvSpPr/>
          <p:nvPr/>
        </p:nvSpPr>
        <p:spPr>
          <a:xfrm>
            <a:off x="594360" y="647388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Linux Essentials 010-160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sldNum" idx="13"/>
          </p:nvPr>
        </p:nvSpPr>
        <p:spPr>
          <a:xfrm>
            <a:off x="1120140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9E131CA-2B76-4454-94C5-5A565811E604}" type="slidenum">
              <a: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rPr>
              <a:t>9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594360" y="43884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Copiar, mover e remover com cuidado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621720" y="868680"/>
            <a:ext cx="10606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Aqui o comando ja pode alterar o que existe. Vamos devagar.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"/>
          <p:cNvSpPr/>
          <p:nvPr/>
        </p:nvSpPr>
        <p:spPr>
          <a:xfrm>
            <a:off x="685800" y="1325880"/>
            <a:ext cx="6857640" cy="2742840"/>
          </a:xfrm>
          <a:prstGeom prst="roundRect">
            <a:avLst>
              <a:gd name="adj" fmla="val 4000"/>
            </a:avLst>
          </a:prstGeom>
          <a:solidFill>
            <a:srgbClr val="020617"/>
          </a:solidFill>
          <a:ln w="1397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"/>
          <p:cNvSpPr/>
          <p:nvPr/>
        </p:nvSpPr>
        <p:spPr>
          <a:xfrm>
            <a:off x="685800" y="1325880"/>
            <a:ext cx="6857640" cy="319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4"/>
          <p:cNvSpPr/>
          <p:nvPr/>
        </p:nvSpPr>
        <p:spPr>
          <a:xfrm>
            <a:off x="822960" y="1435680"/>
            <a:ext cx="91080" cy="91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5"/>
          <p:cNvSpPr/>
          <p:nvPr/>
        </p:nvSpPr>
        <p:spPr>
          <a:xfrm>
            <a:off x="978480" y="1435680"/>
            <a:ext cx="91080" cy="91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6"/>
          <p:cNvSpPr/>
          <p:nvPr/>
        </p:nvSpPr>
        <p:spPr>
          <a:xfrm>
            <a:off x="1134000" y="1435680"/>
            <a:ext cx="91080" cy="91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850320" y="1764720"/>
            <a:ext cx="652860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cp anotacoes.txt documentos/anotacoes-copia.txt</a:t>
            </a:r>
            <a:endParaRPr lang="pt-B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mv documentos/anotacoes-copia.txt documentos/anotacoes-final.txt</a:t>
            </a:r>
            <a:endParaRPr lang="pt-B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ls documentos</a:t>
            </a:r>
            <a:endParaRPr lang="pt-B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anotacoes-final.txt</a:t>
            </a:r>
            <a:endParaRPr lang="pt-B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rm documentos/anotacoes-final.txt</a:t>
            </a:r>
            <a:endParaRPr lang="pt-B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8001000" y="13258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4B8A6"/>
                </a:solidFill>
                <a:effectLst/>
                <a:uFillTx/>
                <a:latin typeface="Aptos"/>
              </a:rPr>
              <a:t>cp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9"/>
          <p:cNvSpPr/>
          <p:nvPr/>
        </p:nvSpPr>
        <p:spPr>
          <a:xfrm>
            <a:off x="8732520" y="138996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copia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0"/>
          <p:cNvSpPr/>
          <p:nvPr/>
        </p:nvSpPr>
        <p:spPr>
          <a:xfrm>
            <a:off x="8001000" y="196596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mv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1"/>
          <p:cNvSpPr/>
          <p:nvPr/>
        </p:nvSpPr>
        <p:spPr>
          <a:xfrm>
            <a:off x="8732520" y="203004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move ou renomeia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2"/>
          <p:cNvSpPr/>
          <p:nvPr/>
        </p:nvSpPr>
        <p:spPr>
          <a:xfrm>
            <a:off x="8001000" y="260604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87171"/>
                </a:solidFill>
                <a:effectLst/>
                <a:uFillTx/>
                <a:latin typeface="Aptos"/>
              </a:rPr>
              <a:t>rm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3"/>
          <p:cNvSpPr/>
          <p:nvPr/>
        </p:nvSpPr>
        <p:spPr>
          <a:xfrm>
            <a:off x="8732520" y="26701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remove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4"/>
          <p:cNvSpPr/>
          <p:nvPr/>
        </p:nvSpPr>
        <p:spPr>
          <a:xfrm>
            <a:off x="1234440" y="4754880"/>
            <a:ext cx="9646560" cy="658080"/>
          </a:xfrm>
          <a:prstGeom prst="roundRect">
            <a:avLst>
              <a:gd name="adj" fmla="val 16667"/>
            </a:avLst>
          </a:prstGeom>
          <a:solidFill>
            <a:srgbClr val="172033"/>
          </a:solidFill>
          <a:ln w="1397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5"/>
          <p:cNvSpPr/>
          <p:nvPr/>
        </p:nvSpPr>
        <p:spPr>
          <a:xfrm>
            <a:off x="1398960" y="4892040"/>
            <a:ext cx="9317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Antes de rm: confira com pwd e ls. Em aula, explique esse ritual em voz alta.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6"/>
          <p:cNvSpPr/>
          <p:nvPr/>
        </p:nvSpPr>
        <p:spPr>
          <a:xfrm>
            <a:off x="594360" y="647388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Linux Essentials 010-160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sldNum" idx="14"/>
          </p:nvPr>
        </p:nvSpPr>
        <p:spPr>
          <a:xfrm>
            <a:off x="1120140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2CF0E56-B07A-49EB-9681-E0EFE8088D8E}" type="slidenum">
              <a: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rPr>
              <a:t>10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594360" y="43884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Pausa de compreensao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621720" y="868680"/>
            <a:ext cx="10606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Antes de avancar, vamos verificar se a base ficou clara.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"/>
          <p:cNvSpPr/>
          <p:nvPr/>
        </p:nvSpPr>
        <p:spPr>
          <a:xfrm>
            <a:off x="1005840" y="1417320"/>
            <a:ext cx="420120" cy="4201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3"/>
          <p:cNvSpPr/>
          <p:nvPr/>
        </p:nvSpPr>
        <p:spPr>
          <a:xfrm>
            <a:off x="1005840" y="1499760"/>
            <a:ext cx="420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1020"/>
                </a:solidFill>
                <a:effectLst/>
                <a:uFillTx/>
                <a:latin typeface="Aptos"/>
              </a:rPr>
              <a:t>1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4"/>
          <p:cNvSpPr/>
          <p:nvPr/>
        </p:nvSpPr>
        <p:spPr>
          <a:xfrm>
            <a:off x="1673280" y="1444680"/>
            <a:ext cx="8137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Qual comando mostra o diretorio atual?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5"/>
          <p:cNvSpPr/>
          <p:nvPr/>
        </p:nvSpPr>
        <p:spPr>
          <a:xfrm>
            <a:off x="1005840" y="2194560"/>
            <a:ext cx="420120" cy="4201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6"/>
          <p:cNvSpPr/>
          <p:nvPr/>
        </p:nvSpPr>
        <p:spPr>
          <a:xfrm>
            <a:off x="1005840" y="2277000"/>
            <a:ext cx="420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1020"/>
                </a:solidFill>
                <a:effectLst/>
                <a:uFillTx/>
                <a:latin typeface="Aptos"/>
              </a:rPr>
              <a:t>2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7"/>
          <p:cNvSpPr/>
          <p:nvPr/>
        </p:nvSpPr>
        <p:spPr>
          <a:xfrm>
            <a:off x="1673280" y="2221920"/>
            <a:ext cx="8137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Qual comando lista arquivos?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8"/>
          <p:cNvSpPr/>
          <p:nvPr/>
        </p:nvSpPr>
        <p:spPr>
          <a:xfrm>
            <a:off x="1005840" y="2971800"/>
            <a:ext cx="420120" cy="4201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9"/>
          <p:cNvSpPr/>
          <p:nvPr/>
        </p:nvSpPr>
        <p:spPr>
          <a:xfrm>
            <a:off x="1005840" y="3054240"/>
            <a:ext cx="420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1020"/>
                </a:solidFill>
                <a:effectLst/>
                <a:uFillTx/>
                <a:latin typeface="Aptos"/>
              </a:rPr>
              <a:t>3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0"/>
          <p:cNvSpPr/>
          <p:nvPr/>
        </p:nvSpPr>
        <p:spPr>
          <a:xfrm>
            <a:off x="1673280" y="2999160"/>
            <a:ext cx="8137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O que significa cd .. ?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1"/>
          <p:cNvSpPr/>
          <p:nvPr/>
        </p:nvSpPr>
        <p:spPr>
          <a:xfrm>
            <a:off x="1005840" y="3749040"/>
            <a:ext cx="420120" cy="4201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2"/>
          <p:cNvSpPr/>
          <p:nvPr/>
        </p:nvSpPr>
        <p:spPr>
          <a:xfrm>
            <a:off x="1005840" y="3831480"/>
            <a:ext cx="420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1020"/>
                </a:solidFill>
                <a:effectLst/>
                <a:uFillTx/>
                <a:latin typeface="Aptos"/>
              </a:rPr>
              <a:t>4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3"/>
          <p:cNvSpPr/>
          <p:nvPr/>
        </p:nvSpPr>
        <p:spPr>
          <a:xfrm>
            <a:off x="1673280" y="3776400"/>
            <a:ext cx="8137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Qual e o risco do comando rm?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4"/>
          <p:cNvSpPr/>
          <p:nvPr/>
        </p:nvSpPr>
        <p:spPr>
          <a:xfrm>
            <a:off x="1097280" y="4892040"/>
            <a:ext cx="9875160" cy="712800"/>
          </a:xfrm>
          <a:prstGeom prst="roundRect">
            <a:avLst>
              <a:gd name="adj" fmla="val 15385"/>
            </a:avLst>
          </a:prstGeom>
          <a:solidFill>
            <a:srgbClr val="172033"/>
          </a:solidFill>
          <a:ln w="1397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5"/>
          <p:cNvSpPr/>
          <p:nvPr/>
        </p:nvSpPr>
        <p:spPr>
          <a:xfrm>
            <a:off x="1261800" y="5029200"/>
            <a:ext cx="9546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Respostas esperadas: pwd, ls, volta um nivel, remocao sem lixeira no terminal.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6"/>
          <p:cNvSpPr/>
          <p:nvPr/>
        </p:nvSpPr>
        <p:spPr>
          <a:xfrm>
            <a:off x="594360" y="647388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Momento de class management - criterio LPI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1"/>
          <p:cNvSpPr>
            <a:spLocks noGrp="1"/>
          </p:cNvSpPr>
          <p:nvPr>
            <p:ph type="sldNum" idx="15"/>
          </p:nvPr>
        </p:nvSpPr>
        <p:spPr>
          <a:xfrm>
            <a:off x="1120140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3322BF4D-7BAD-4E24-AA15-F742828F74D0}" type="slidenum">
              <a: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rPr>
              <a:t>11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/>
          <p:nvPr/>
        </p:nvSpPr>
        <p:spPr>
          <a:xfrm>
            <a:off x="594360" y="43884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Exercicio final guiado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"/>
          <p:cNvSpPr/>
          <p:nvPr/>
        </p:nvSpPr>
        <p:spPr>
          <a:xfrm>
            <a:off x="621720" y="868680"/>
            <a:ext cx="10606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Um mini desafio para consolidar a aula.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"/>
          <p:cNvSpPr/>
          <p:nvPr/>
        </p:nvSpPr>
        <p:spPr>
          <a:xfrm>
            <a:off x="685800" y="1234440"/>
            <a:ext cx="6903360" cy="3885840"/>
          </a:xfrm>
          <a:prstGeom prst="roundRect">
            <a:avLst>
              <a:gd name="adj" fmla="val 2824"/>
            </a:avLst>
          </a:prstGeom>
          <a:solidFill>
            <a:srgbClr val="020617"/>
          </a:solidFill>
          <a:ln w="1397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3"/>
          <p:cNvSpPr/>
          <p:nvPr/>
        </p:nvSpPr>
        <p:spPr>
          <a:xfrm>
            <a:off x="685800" y="1234440"/>
            <a:ext cx="6903360" cy="319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4"/>
          <p:cNvSpPr/>
          <p:nvPr/>
        </p:nvSpPr>
        <p:spPr>
          <a:xfrm>
            <a:off x="822960" y="1344240"/>
            <a:ext cx="91080" cy="91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5"/>
          <p:cNvSpPr/>
          <p:nvPr/>
        </p:nvSpPr>
        <p:spPr>
          <a:xfrm>
            <a:off x="978480" y="1344240"/>
            <a:ext cx="91080" cy="91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6"/>
          <p:cNvSpPr/>
          <p:nvPr/>
        </p:nvSpPr>
        <p:spPr>
          <a:xfrm>
            <a:off x="1134000" y="1344240"/>
            <a:ext cx="91080" cy="91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7"/>
          <p:cNvSpPr/>
          <p:nvPr/>
        </p:nvSpPr>
        <p:spPr>
          <a:xfrm>
            <a:off x="850320" y="1673280"/>
            <a:ext cx="6574320" cy="335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cd ~</a:t>
            </a:r>
            <a:endParaRPr lang="pt-BR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mkdir treino-terminal</a:t>
            </a:r>
            <a:endParaRPr lang="pt-BR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cd treino-terminal</a:t>
            </a:r>
            <a:endParaRPr lang="pt-BR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touch resumo.txt</a:t>
            </a:r>
            <a:endParaRPr lang="pt-BR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echo "Aprendi pwd, ls e cd" &gt; resumo.txt</a:t>
            </a:r>
            <a:endParaRPr lang="pt-BR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mkdir evidencias</a:t>
            </a:r>
            <a:endParaRPr lang="pt-BR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cp resumo.txt evidencias/resumo-copia.txt</a:t>
            </a:r>
            <a:endParaRPr lang="pt-BR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$ ls -R</a:t>
            </a:r>
            <a:endParaRPr lang="pt-BR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8"/>
          <p:cNvSpPr/>
          <p:nvPr/>
        </p:nvSpPr>
        <p:spPr>
          <a:xfrm>
            <a:off x="8092440" y="132588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22C55E"/>
                </a:solidFill>
                <a:effectLst/>
                <a:uFillTx/>
                <a:latin typeface="Aptos"/>
              </a:rPr>
              <a:t>Objetivo do desafio</a:t>
            </a:r>
            <a:endParaRPr lang="pt-B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9"/>
          <p:cNvSpPr/>
          <p:nvPr/>
        </p:nvSpPr>
        <p:spPr>
          <a:xfrm>
            <a:off x="8092440" y="1783080"/>
            <a:ext cx="3062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Criar um diretorio, entrar nele, criar um arquivo, escrever conteudo, copiar para uma subpasta e listar tudo.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0"/>
          <p:cNvSpPr/>
          <p:nvPr/>
        </p:nvSpPr>
        <p:spPr>
          <a:xfrm>
            <a:off x="7882200" y="3703320"/>
            <a:ext cx="3245760" cy="639720"/>
          </a:xfrm>
          <a:prstGeom prst="roundRect">
            <a:avLst>
              <a:gd name="adj" fmla="val 17143"/>
            </a:avLst>
          </a:prstGeom>
          <a:solidFill>
            <a:srgbClr val="172033"/>
          </a:solidFill>
          <a:ln w="1397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1"/>
          <p:cNvSpPr/>
          <p:nvPr/>
        </p:nvSpPr>
        <p:spPr>
          <a:xfrm>
            <a:off x="8046720" y="3840480"/>
            <a:ext cx="2916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Esse exercicio combina todos os comandos vistos.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2"/>
          <p:cNvSpPr/>
          <p:nvPr/>
        </p:nvSpPr>
        <p:spPr>
          <a:xfrm>
            <a:off x="594360" y="647388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Linux Essentials 010-160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1"/>
          <p:cNvSpPr>
            <a:spLocks noGrp="1"/>
          </p:cNvSpPr>
          <p:nvPr>
            <p:ph type="sldNum" idx="16"/>
          </p:nvPr>
        </p:nvSpPr>
        <p:spPr>
          <a:xfrm>
            <a:off x="1120140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BFED926-50B4-4403-A69E-636EF8402FF2}" type="slidenum">
              <a: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rPr>
              <a:t>12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594360" y="43884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Recapitulacao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621720" y="868680"/>
            <a:ext cx="10606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O que voce aprendeu nesta aula.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"/>
          <p:cNvSpPr/>
          <p:nvPr/>
        </p:nvSpPr>
        <p:spPr>
          <a:xfrm>
            <a:off x="914400" y="141732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B8A6"/>
                </a:solidFill>
                <a:effectLst/>
                <a:uFillTx/>
                <a:latin typeface="Aptos Mono"/>
                <a:ea typeface="Aptos Mono"/>
              </a:rPr>
              <a:t>pwd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3"/>
          <p:cNvSpPr/>
          <p:nvPr/>
        </p:nvSpPr>
        <p:spPr>
          <a:xfrm>
            <a:off x="2560320" y="147204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onde estou</a:t>
            </a:r>
            <a:endParaRPr lang="pt-B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4"/>
          <p:cNvSpPr/>
          <p:nvPr/>
        </p:nvSpPr>
        <p:spPr>
          <a:xfrm>
            <a:off x="914400" y="233172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B8A6"/>
                </a:solidFill>
                <a:effectLst/>
                <a:uFillTx/>
                <a:latin typeface="Aptos Mono"/>
                <a:ea typeface="Aptos Mono"/>
              </a:rPr>
              <a:t>ls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5"/>
          <p:cNvSpPr/>
          <p:nvPr/>
        </p:nvSpPr>
        <p:spPr>
          <a:xfrm>
            <a:off x="2560320" y="238644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o que existe aqui</a:t>
            </a:r>
            <a:endParaRPr lang="pt-B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6"/>
          <p:cNvSpPr/>
          <p:nvPr/>
        </p:nvSpPr>
        <p:spPr>
          <a:xfrm>
            <a:off x="914400" y="324612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B8A6"/>
                </a:solidFill>
                <a:effectLst/>
                <a:uFillTx/>
                <a:latin typeface="Aptos Mono"/>
                <a:ea typeface="Aptos Mono"/>
              </a:rPr>
              <a:t>cd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7"/>
          <p:cNvSpPr/>
          <p:nvPr/>
        </p:nvSpPr>
        <p:spPr>
          <a:xfrm>
            <a:off x="2560320" y="330084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mudar de diretorio</a:t>
            </a:r>
            <a:endParaRPr lang="pt-B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8"/>
          <p:cNvSpPr/>
          <p:nvPr/>
        </p:nvSpPr>
        <p:spPr>
          <a:xfrm>
            <a:off x="6446520" y="141732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B8A6"/>
                </a:solidFill>
                <a:effectLst/>
                <a:uFillTx/>
                <a:latin typeface="Aptos Mono"/>
                <a:ea typeface="Aptos Mono"/>
              </a:rPr>
              <a:t>mkdir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9"/>
          <p:cNvSpPr/>
          <p:nvPr/>
        </p:nvSpPr>
        <p:spPr>
          <a:xfrm>
            <a:off x="8092440" y="147204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criar diretorio</a:t>
            </a:r>
            <a:endParaRPr lang="pt-B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0"/>
          <p:cNvSpPr/>
          <p:nvPr/>
        </p:nvSpPr>
        <p:spPr>
          <a:xfrm>
            <a:off x="6446520" y="233172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B8A6"/>
                </a:solidFill>
                <a:effectLst/>
                <a:uFillTx/>
                <a:latin typeface="Aptos Mono"/>
                <a:ea typeface="Aptos Mono"/>
              </a:rPr>
              <a:t>touch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1"/>
          <p:cNvSpPr/>
          <p:nvPr/>
        </p:nvSpPr>
        <p:spPr>
          <a:xfrm>
            <a:off x="8092440" y="238644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criar arquivo vazio</a:t>
            </a:r>
            <a:endParaRPr lang="pt-B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2"/>
          <p:cNvSpPr/>
          <p:nvPr/>
        </p:nvSpPr>
        <p:spPr>
          <a:xfrm>
            <a:off x="6446520" y="324612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B8A6"/>
                </a:solidFill>
                <a:effectLst/>
                <a:uFillTx/>
                <a:latin typeface="Aptos Mono"/>
                <a:ea typeface="Aptos Mono"/>
              </a:rPr>
              <a:t>cp/mv/rm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3"/>
          <p:cNvSpPr/>
          <p:nvPr/>
        </p:nvSpPr>
        <p:spPr>
          <a:xfrm>
            <a:off x="8092440" y="330084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copiar, mover e remover</a:t>
            </a:r>
            <a:endParaRPr lang="pt-B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4"/>
          <p:cNvSpPr/>
          <p:nvPr/>
        </p:nvSpPr>
        <p:spPr>
          <a:xfrm>
            <a:off x="1234440" y="4773240"/>
            <a:ext cx="9509400" cy="694440"/>
          </a:xfrm>
          <a:prstGeom prst="roundRect">
            <a:avLst>
              <a:gd name="adj" fmla="val 15789"/>
            </a:avLst>
          </a:prstGeom>
          <a:solidFill>
            <a:srgbClr val="172033"/>
          </a:solidFill>
          <a:ln w="1397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5"/>
          <p:cNvSpPr/>
          <p:nvPr/>
        </p:nvSpPr>
        <p:spPr>
          <a:xfrm>
            <a:off x="1398960" y="4910400"/>
            <a:ext cx="9180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Proximo passo natural: ajuda no Linux com man, --help e /usr/share/doc.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6"/>
          <p:cNvSpPr/>
          <p:nvPr/>
        </p:nvSpPr>
        <p:spPr>
          <a:xfrm>
            <a:off x="594360" y="647388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Linux Essentials 010-160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1"/>
          <p:cNvSpPr>
            <a:spLocks noGrp="1"/>
          </p:cNvSpPr>
          <p:nvPr>
            <p:ph type="sldNum" idx="17"/>
          </p:nvPr>
        </p:nvSpPr>
        <p:spPr>
          <a:xfrm>
            <a:off x="1120140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11021A0-A1B3-44A7-ABCF-4AA566976A3F}" type="slidenum">
              <a: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rPr>
              <a:t>13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/>
          <p:nvPr/>
        </p:nvSpPr>
        <p:spPr>
          <a:xfrm>
            <a:off x="594360" y="43884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Base oficial usada no desenho da aula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"/>
          <p:cNvSpPr/>
          <p:nvPr/>
        </p:nvSpPr>
        <p:spPr>
          <a:xfrm>
            <a:off x="621720" y="868680"/>
            <a:ext cx="10606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Slide de apoio - nao precisa aparecer no video final se preferir.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"/>
          <p:cNvSpPr/>
          <p:nvPr/>
        </p:nvSpPr>
        <p:spPr>
          <a:xfrm>
            <a:off x="822960" y="1325880"/>
            <a:ext cx="9417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Alinhamento com Linux Essentials 010-160: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3"/>
          <p:cNvSpPr/>
          <p:nvPr/>
        </p:nvSpPr>
        <p:spPr>
          <a:xfrm>
            <a:off x="1051560" y="1874520"/>
            <a:ext cx="94179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1.4 Habilidades ICT e trabalhando no Linux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2.1 O basico sobre a linha de comando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2.3 Usando diretorios e listando arquivos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2.4 Criando, movendo e deletando arquivos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4"/>
          <p:cNvSpPr/>
          <p:nvPr/>
        </p:nvSpPr>
        <p:spPr>
          <a:xfrm>
            <a:off x="822960" y="3383280"/>
            <a:ext cx="9417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Criterios do video LPI Approved Trainer: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5"/>
          <p:cNvSpPr/>
          <p:nvPr/>
        </p:nvSpPr>
        <p:spPr>
          <a:xfrm>
            <a:off x="1051560" y="3886200"/>
            <a:ext cx="96922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Conhecimento tecnico, habilidades didaticas, postura profissional e gestao da aula com verificacao de compreensao antes de avancar.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6"/>
          <p:cNvSpPr/>
          <p:nvPr/>
        </p:nvSpPr>
        <p:spPr>
          <a:xfrm>
            <a:off x="1051560" y="5047560"/>
            <a:ext cx="9875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Referencias oficiais: lpi.org/community-programs/approved-trainer/ e lpi.org/pt-br/exam-010-objectives/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7"/>
          <p:cNvSpPr/>
          <p:nvPr/>
        </p:nvSpPr>
        <p:spPr>
          <a:xfrm>
            <a:off x="594360" y="647388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Slide opcional de referencia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sldNum" idx="18"/>
          </p:nvPr>
        </p:nvSpPr>
        <p:spPr>
          <a:xfrm>
            <a:off x="1120140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799CD39-A1A0-48A0-98FD-841BAF3BAA86}" type="slidenum">
              <a:rPr lang="en-US" sz="800" b="0" u="none" strike="noStrike">
                <a:solidFill>
                  <a:srgbClr val="718096"/>
                </a:solidFill>
                <a:effectLst/>
                <a:uFillTx/>
                <a:latin typeface="Aptos"/>
              </a:rPr>
              <a:t>14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LibreOffice/26.2.6.3$Windows_X86_64 LibreOffice_project/8221e31b3ac356a1623c672912a3d2b492f7e3d1</Application>
  <AppVersion>15.0000</AppVersion>
  <Words>0</Words>
  <Paragraphs>0</Paragraphs>
  <Company>Material de aula modelo para submissão LPI Approved Trainer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2026-10-01T10:52:09Z</dcterms:created>
  <dc:creator>Jeferson Mattos de Salles</dc:creator>
  <dc:description/>
  <dc:language>pt-BR</dc:language>
  <cp:lastModifiedBy/>
  <dcterms:modified xsi:type="dcterms:W3CDTF">2026-10-01T09:44:36Z</dcterms:modified>
  <cp:revision>2</cp:revision>
  <dc:subject>Linux Essentials - Primeiros passos na linha de comando</dc:subject>
  <dc:title>Linux do zero: primeiros passos na linha de comando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